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/>
    <p:restoredTop sz="80680"/>
  </p:normalViewPr>
  <p:slideViewPr>
    <p:cSldViewPr snapToGrid="0">
      <p:cViewPr varScale="1">
        <p:scale>
          <a:sx n="102" d="100"/>
          <a:sy n="102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92B86-1D9C-E749-B79A-26D9E39A159B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FAC99-0F92-7E48-B652-610BB617E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2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50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01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11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70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36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39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54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15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98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FAC99-0F92-7E48-B652-610BB617EA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0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2/2/26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316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2/2/26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340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738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76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718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2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670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653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381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099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2/2/26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4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22" name="Picture 21" descr="Network connection abstract against a white background">
            <a:extLst>
              <a:ext uri="{FF2B5EF4-FFF2-40B4-BE49-F238E27FC236}">
                <a16:creationId xmlns:a16="http://schemas.microsoft.com/office/drawing/2014/main" id="{167D998C-BE66-552D-6283-B49D41D8BD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5709" r="-1" b="-1"/>
          <a:stretch>
            <a:fillRect/>
          </a:stretch>
        </p:blipFill>
        <p:spPr>
          <a:xfrm>
            <a:off x="-7701529" y="-4053298"/>
            <a:ext cx="22765887" cy="13046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2F406F-121A-1069-F6E1-7A2031600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562" y="1102941"/>
            <a:ext cx="9756183" cy="2179601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i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Product Category Classification Using Image and Text Data</a:t>
            </a:r>
            <a:endParaRPr lang="en-US" sz="3600" i="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99E66-64DC-BBFC-C512-6CCC9CB5A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219" y="4903158"/>
            <a:ext cx="5398471" cy="1619524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Multimodal Deep Learning | CLIP-based Classification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25A2CBEC-4F23-437D-9D03-9968C9B7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64A856-A4F6-4068-9AC3-7B38A00DA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983E8C-44FB-463B-B6B0-B53E96ACC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AD7FCC-3422-42C3-A2AD-69ADFEA6E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ECA670-C540-4DCE-8F03-EC843D518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ECB6083-DDE0-460C-987E-E64587630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78004C4-6786-473C-BB2A-AAA6EF115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455376B6-DAB5-4A34-A8BE-15DE02CAF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EC2A85A1-668E-48DF-A484-FADE64BE6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D16C5EE-54EB-4800-8860-E622EEDE8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867385D1-CF02-2BDE-EE9B-C26EC668BAAE}"/>
              </a:ext>
            </a:extLst>
          </p:cNvPr>
          <p:cNvSpPr txBox="1">
            <a:spLocks/>
          </p:cNvSpPr>
          <p:nvPr/>
        </p:nvSpPr>
        <p:spPr>
          <a:xfrm>
            <a:off x="1549237" y="2361613"/>
            <a:ext cx="8990037" cy="21796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Amazon products into categories using CLIP (frozen) and a trained MLP probe on image + text embeddings.</a:t>
            </a:r>
            <a:endParaRPr lang="en-US" sz="2000" i="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456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FE999-6694-39B7-0866-3904D524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404958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Noisy/incomplete listings (varying text quality, missing fields).
• Text-only misses visual cues; image-only misses specs/brand.
• Similar products are hard to separate with one modality.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2804013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Text-only misses visual cues (appearance, colour, design).
• Image-only misses specs, brand, and wording.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013626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Robust category prediction using both image and text.
• Combined signals improve accuracy &amp; robustness.</a:t>
            </a:r>
          </a:p>
        </p:txBody>
      </p:sp>
    </p:spTree>
    <p:extLst>
      <p:ext uri="{BB962C8B-B14F-4D97-AF65-F5344CB8AC3E}">
        <p14:creationId xmlns:p14="http://schemas.microsoft.com/office/powerpoint/2010/main" val="385443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43C31-1E88-5DE5-B590-79B9A684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6FDAC4A-6299-CB49-622F-8C2DD8581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A1E9B-17AA-EEEF-84E4-407A4F6E7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404958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Build a multimodal classifier using product name + description + image.
• Use pretrained CLIP (openai/clip-vit-base-patch32) — no encoder training from scratch.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11E34FE4-A272-546D-F7B9-623052B47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952E9090-ED72-F0BC-9513-4154FB806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1F16A708-87E3-A4B3-61A3-A8A660768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1AD70C9-1209-53AE-B104-635F189AA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9C458B97-C12E-F274-6C5E-B11BA0C46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B73A8CC-0299-43E1-4080-76D497D1AF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7DB77CF6-350D-4684-056B-E4DF505939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5D5930D0-F934-746A-925C-53C7D45999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F936353-5847-6F4B-D15E-3D8B01C03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D9738F-8ED1-98E1-FE5A-9DAF3E003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F7B04B-5AF4-388A-5969-88642FDB7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E2597E1-6AD6-488F-2824-0FAE5EE93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FA6E43-257C-98DD-5CE3-E4A6EADDE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8336E549-4E61-A2E9-9166-26FD08F2D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330B3E3E-82D4-AC11-3A95-83E001368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930DF04C-5541-DE49-6A64-0FF43A4792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9BCB0E-88E6-5898-4219-4A806E74C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E153BB7-3614-40BF-4792-0B1E5A700C96}"/>
              </a:ext>
            </a:extLst>
          </p:cNvPr>
          <p:cNvSpPr txBox="1">
            <a:spLocks/>
          </p:cNvSpPr>
          <p:nvPr/>
        </p:nvSpPr>
        <p:spPr>
          <a:xfrm>
            <a:off x="480801" y="2874373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Extract frozen CLIP image + text embeddings (512 + 512).
• Concatenate to 1024-dim and train an MLP probe.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4E000A-310B-F4BE-3B8C-849719C7E0FB}"/>
              </a:ext>
            </a:extLst>
          </p:cNvPr>
          <p:cNvSpPr txBox="1">
            <a:spLocks/>
          </p:cNvSpPr>
          <p:nvPr/>
        </p:nvSpPr>
        <p:spPr>
          <a:xfrm>
            <a:off x="480801" y="4256522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Generalisation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Train only the MLP head (N=1,035) to reduce overfitting.
• Lower compute cost and faster iteration.</a:t>
            </a:r>
          </a:p>
        </p:txBody>
      </p:sp>
    </p:spTree>
    <p:extLst>
      <p:ext uri="{BB962C8B-B14F-4D97-AF65-F5344CB8AC3E}">
        <p14:creationId xmlns:p14="http://schemas.microsoft.com/office/powerpoint/2010/main" val="3061213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718269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Source: Amazon Product Dataset 2020 (Kaggle).
• Domain: Toys &amp; Games (4 categories).
• Size: 1,035 valid samples (image + text).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3632066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Classes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Board Games
• Jigsaw Puzzles
• Stuffed Animals &amp; Teddy Bears
• Action Figures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906607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Train/Val: 80/20 stratified (split column in processed_labels.csv).
• Evaluation performed on the validation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404958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Images: parse first valid URL → download locally.
• CLIP processor resizes/normalises (224×224) for embedding extraction.
• Text: NFKC normalisation + whitespace cleanup.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2864772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field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Merge: product name + description joined with “ || ”.
• Tokenise with CLIP (max 77 tokens).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190720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Fixed label_map (category→0–3).
• Split consistency via uniq_id + split alignment (processed_labels.csv).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404958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Architecture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Frozen CLIP image encoder (ViT-B/32) → 512-dim embedding (L2-normalised).
• Frozen CLIP text encoder (Transformer) → 512-dim embedding (L2-normalised).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49070" y="2944886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Fusion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Concatenate image + text embeddings → 1024-dim vector.
• No additional re-normalisation after concat (per project).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369694" y="4265555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 head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MLP: 1024 → 256 (ReLU) → dropout 0.2 → 4 logits.
• Only MLP head is trained; CLIP remains frozen.</a:t>
            </a:r>
          </a:p>
        </p:txBody>
      </p:sp>
      <p:pic>
        <p:nvPicPr>
          <p:cNvPr id="32" name="Picture 31" descr="Screenshot 2026-02-01 at 11.24.13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814" y="4222130"/>
            <a:ext cx="63462" cy="129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718269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Strategy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Trainable params: MLP head only; CLIP encoders frozen.
• Loss: CrossEntropyLoss (multiclass).
• Optimiser: Adam (lr=1e-3, weight_decay=1e-4).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3208224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Regularisation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Dropout = 0.2 in the MLP head.
• Weight decay = 1e-4.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809498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stopping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Monitor validation loss; patience = 3.
• Save best checkpoint (lowest val loss).
• Up to 10 epochs; batch size 64.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605134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Accuracy on validation set.
• Per-class Precision / Recall / F1 (average=None).
• Macro F1 for balanced summary.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3134850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Confusion matrix to inspect error patterns.
• Classification report + metrics.json exported by evaluate.py.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542858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these metrics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Macro F1 avoids bias toward majority classes.
• Confusion matrix reveals which categories confuse each 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404958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Summary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Validation accuracy ≈ 98.07%; Macro F1 ≈ 0.9808.
• Strong performance across all 4 categories.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3335035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Per-class (approx)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Board Games: F1≈0.98
• Jigsaw Puzzles: F1≈0.97
• Stuffed Animals: F1≈0.99
• Action Figures: F1≈0.98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478229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matrix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Most predictions fall on the diagonal (correct).
• Small confusions mainly between Board ↔ Jigsaw and Action ↔ others.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B4C17A-85FD-28D3-D895-4993D50C4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C00A-D42C-E23E-B5AC-96E6E6C13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801" y="1404958"/>
            <a:ext cx="11449488" cy="986327"/>
          </a:xfrm>
        </p:spPr>
        <p:txBody>
          <a:bodyPr anchor="b">
            <a:normAutofit fontScale="90000"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Future Work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Frozen CLIP + lightweight MLP achieves high accuracy with low training cost.
• Pretrained multimodal features transfer well to product categorisation.</a:t>
            </a:r>
          </a:p>
        </p:txBody>
      </p:sp>
      <p:sp>
        <p:nvSpPr>
          <p:cNvPr id="31" name="Freeform: Shape 10">
            <a:extLst>
              <a:ext uri="{FF2B5EF4-FFF2-40B4-BE49-F238E27FC236}">
                <a16:creationId xmlns:a16="http://schemas.microsoft.com/office/drawing/2014/main" id="{6ABC83B1-1062-010F-4DBF-A8A027DF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1FBC06FB-9ECC-159C-0DED-A2C5009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43D14E26-BB03-F153-DAFF-13BF8F376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54E82F59-6A54-6EE1-4609-D6C146D4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D6ECA7BD-03DD-73F3-6353-8C77061171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EC99DBF3-B228-3DD9-4767-59476962A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062BEA4-D0B9-3BF1-C950-39FBFED399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5F149A2-AA20-E3A6-F15D-050971435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18DB1E1-8692-642F-1855-9AF2F0E6A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E1598D-6988-9AB8-175D-594074AE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14599-E385-7A63-FF8B-424BFC1B5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BD27E7-90A5-30BA-8D64-EC473A950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BBBCA9-0EB7-0567-28D9-C6B132F92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6E12822-BB12-A3D2-A3BB-C6D2F1590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0C222DD7-CE70-D4AA-7C74-DE28F270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87DCABD2-5F2E-174A-4B21-3597007DC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348805-7C84-EAD2-2416-7E36A237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103213B-93B9-7707-E9B3-62DE6C4C01F4}"/>
              </a:ext>
            </a:extLst>
          </p:cNvPr>
          <p:cNvSpPr txBox="1">
            <a:spLocks/>
          </p:cNvSpPr>
          <p:nvPr/>
        </p:nvSpPr>
        <p:spPr>
          <a:xfrm>
            <a:off x="480801" y="3127582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Fine-tune CLIP (partial/full) when more data is available.
• Attention-based fusion instead of simple concat.
• Scale to more categories; handle missing modalities.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C4BBD-236F-6384-AE03-92E805200C72}"/>
              </a:ext>
            </a:extLst>
          </p:cNvPr>
          <p:cNvSpPr txBox="1">
            <a:spLocks/>
          </p:cNvSpPr>
          <p:nvPr/>
        </p:nvSpPr>
        <p:spPr>
          <a:xfrm>
            <a:off x="480801" y="4322125"/>
            <a:ext cx="11449488" cy="796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r>
              <a:rPr lang="en-US" sz="180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
• Use in cataloguing, search, recommendations, and moderation pipelines.
• Add confidence thresholds + active learning for new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636</TotalTime>
  <Words>856</Words>
  <Application>Microsoft Macintosh PowerPoint</Application>
  <PresentationFormat>Widescreen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Avenir Next LT Pro</vt:lpstr>
      <vt:lpstr>Avenir Next LT Pro Light</vt:lpstr>
      <vt:lpstr>Georgia Pro Semibold</vt:lpstr>
      <vt:lpstr>Poppins</vt:lpstr>
      <vt:lpstr>RocaVTI</vt:lpstr>
      <vt:lpstr>Product Category Classification Using Image and Text Data</vt:lpstr>
      <vt:lpstr>Problem Statement: 
• Noisy/incomplete listings (varying text quality, missing fields).
• Text-only misses visual cues; image-only misses specs/brand.
• Similar products are hard to separate with one modality.</vt:lpstr>
      <vt:lpstr>Project Objectives: 
• Build a multimodal classifier using product name + description + image.
• Use pretrained CLIP (openai/clip-vit-base-patch32) — no encoder training from scratch.</vt:lpstr>
      <vt:lpstr>Dataset Overview: 
• Source: Amazon Product Dataset 2020 (Kaggle).
• Domain: Toys &amp; Games (4 categories).
• Size: 1,035 valid samples (image + text).</vt:lpstr>
      <vt:lpstr>Data Preprocessing: 
• Images: parse first valid URL → download locally.
• CLIP processor resizes/normalises (224×224) for embedding extraction.
• Text: NFKC normalisation + whitespace cleanup.</vt:lpstr>
      <vt:lpstr>Model Architecture: 
• Frozen CLIP image encoder (ViT-B/32) → 512-dim embedding (L2-normalised).
• Frozen CLIP text encoder (Transformer) → 512-dim embedding (L2-normalised).</vt:lpstr>
      <vt:lpstr>Training Strategy: 
• Trainable params: MLP head only; CLIP encoders frozen.
• Loss: CrossEntropyLoss (multiclass).
• Optimiser: Adam (lr=1e-3, weight_decay=1e-4).</vt:lpstr>
      <vt:lpstr>Evaluation Metrics: 
• Accuracy on validation set.
• Per-class Precision / Recall / F1 (average=None).
• Macro F1 for balanced summary.</vt:lpstr>
      <vt:lpstr>Results Summary: 
• Validation accuracy ≈ 98.07%; Macro F1 ≈ 0.9808.
• Strong performance across all 4 categories.</vt:lpstr>
      <vt:lpstr>Conclusion &amp; Future Work: 
• Frozen CLIP + lightweight MLP achieves high accuracy with low training cost.
• Pretrained multimodal features transfer well to product categorisation.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Khanal</dc:creator>
  <cp:lastModifiedBy>Prashant Khanal</cp:lastModifiedBy>
  <cp:revision>6</cp:revision>
  <dcterms:created xsi:type="dcterms:W3CDTF">2026-01-17T15:39:57Z</dcterms:created>
  <dcterms:modified xsi:type="dcterms:W3CDTF">2026-02-02T10:35:41Z</dcterms:modified>
</cp:coreProperties>
</file>